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9144000" cy="16256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Liter" panose="020B0604020202020204" charset="0"/>
      <p:regular r:id="rId15"/>
    </p:embeddedFont>
    <p:embeddedFont>
      <p:font typeface="Oranienbaum" panose="020B0604020202020204" charset="0"/>
      <p:regular r:id="rId16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1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s-ES" sz="1200" b="0" i="0" u="none" strike="noStrike">
                <a:solidFill>
                  <a:srgbClr val="1A1A2E"/>
                </a:solidFill>
                <a:latin typeface="Arial"/>
              </a:rPr>
              <a:t>Evolución de Tasas CETES (% anual) — Jun 2025 a Jun 2026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CETES 28D</c:v>
                </c:pt>
              </c:strCache>
            </c:strRef>
          </c:tx>
          <c:spPr>
            <a:ln w="25400" cap="flat">
              <a:solidFill>
                <a:srgbClr val="1B2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26-Jun</c:v>
                </c:pt>
                <c:pt idx="1">
                  <c:v>24-Jul</c:v>
                </c:pt>
                <c:pt idx="2">
                  <c:v>21-Ago</c:v>
                </c:pt>
                <c:pt idx="3">
                  <c:v>18-Sep</c:v>
                </c:pt>
                <c:pt idx="4">
                  <c:v>16-Oct</c:v>
                </c:pt>
                <c:pt idx="5">
                  <c:v>13-Nov</c:v>
                </c:pt>
                <c:pt idx="6">
                  <c:v>11-Dic</c:v>
                </c:pt>
                <c:pt idx="7">
                  <c:v>08-Ene</c:v>
                </c:pt>
                <c:pt idx="8">
                  <c:v>05-Feb</c:v>
                </c:pt>
                <c:pt idx="9">
                  <c:v>05-Mar</c:v>
                </c:pt>
                <c:pt idx="10">
                  <c:v>01-Abr</c:v>
                </c:pt>
                <c:pt idx="11">
                  <c:v>30-Abr</c:v>
                </c:pt>
                <c:pt idx="12">
                  <c:v>28-May</c:v>
                </c:pt>
                <c:pt idx="13">
                  <c:v>25-Jun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7.7</c:v>
                </c:pt>
                <c:pt idx="1">
                  <c:v>7.65</c:v>
                </c:pt>
                <c:pt idx="2">
                  <c:v>7.4</c:v>
                </c:pt>
                <c:pt idx="3">
                  <c:v>7.25</c:v>
                </c:pt>
                <c:pt idx="4">
                  <c:v>7.4</c:v>
                </c:pt>
                <c:pt idx="5">
                  <c:v>7.05</c:v>
                </c:pt>
                <c:pt idx="6">
                  <c:v>7.25</c:v>
                </c:pt>
                <c:pt idx="7">
                  <c:v>7.07</c:v>
                </c:pt>
                <c:pt idx="8">
                  <c:v>6.9</c:v>
                </c:pt>
                <c:pt idx="9">
                  <c:v>6.81</c:v>
                </c:pt>
                <c:pt idx="10">
                  <c:v>6.64</c:v>
                </c:pt>
                <c:pt idx="11">
                  <c:v>6.5</c:v>
                </c:pt>
                <c:pt idx="12">
                  <c:v>6.38</c:v>
                </c:pt>
                <c:pt idx="13">
                  <c:v>6.28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3D-4001-B7A9-B402BF47FE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CETES 91D</c:v>
                </c:pt>
              </c:strCache>
            </c:strRef>
          </c:tx>
          <c:spPr>
            <a:ln w="25400" cap="flat">
              <a:solidFill>
                <a:srgbClr val="3D5A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D5A80"/>
              </a:solidFill>
              <a:ln w="9525" cap="flat">
                <a:solidFill>
                  <a:srgbClr val="3D5A8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26-Jun</c:v>
                </c:pt>
                <c:pt idx="1">
                  <c:v>24-Jul</c:v>
                </c:pt>
                <c:pt idx="2">
                  <c:v>21-Ago</c:v>
                </c:pt>
                <c:pt idx="3">
                  <c:v>18-Sep</c:v>
                </c:pt>
                <c:pt idx="4">
                  <c:v>16-Oct</c:v>
                </c:pt>
                <c:pt idx="5">
                  <c:v>13-Nov</c:v>
                </c:pt>
                <c:pt idx="6">
                  <c:v>11-Dic</c:v>
                </c:pt>
                <c:pt idx="7">
                  <c:v>08-Ene</c:v>
                </c:pt>
                <c:pt idx="8">
                  <c:v>05-Feb</c:v>
                </c:pt>
                <c:pt idx="9">
                  <c:v>05-Mar</c:v>
                </c:pt>
                <c:pt idx="10">
                  <c:v>01-Abr</c:v>
                </c:pt>
                <c:pt idx="11">
                  <c:v>30-Abr</c:v>
                </c:pt>
                <c:pt idx="12">
                  <c:v>28-May</c:v>
                </c:pt>
                <c:pt idx="13">
                  <c:v>25-Jun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7.93</c:v>
                </c:pt>
                <c:pt idx="1">
                  <c:v>7.95</c:v>
                </c:pt>
                <c:pt idx="2">
                  <c:v>7.66</c:v>
                </c:pt>
                <c:pt idx="3">
                  <c:v>7.53</c:v>
                </c:pt>
                <c:pt idx="4">
                  <c:v>7.35</c:v>
                </c:pt>
                <c:pt idx="5">
                  <c:v>7.27</c:v>
                </c:pt>
                <c:pt idx="6">
                  <c:v>7.2</c:v>
                </c:pt>
                <c:pt idx="7">
                  <c:v>7.15</c:v>
                </c:pt>
                <c:pt idx="8">
                  <c:v>7.03</c:v>
                </c:pt>
                <c:pt idx="9">
                  <c:v>7.1</c:v>
                </c:pt>
                <c:pt idx="10">
                  <c:v>6.82</c:v>
                </c:pt>
                <c:pt idx="11">
                  <c:v>6.7</c:v>
                </c:pt>
                <c:pt idx="12">
                  <c:v>6.49</c:v>
                </c:pt>
                <c:pt idx="13">
                  <c:v>6.48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3D-4001-B7A9-B402BF47FE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CETES 182D</c:v>
                </c:pt>
              </c:strCache>
            </c:strRef>
          </c:tx>
          <c:spPr>
            <a:ln w="25400" cap="flat">
              <a:solidFill>
                <a:srgbClr val="5C8EA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C8EAD"/>
              </a:solidFill>
              <a:ln w="9525" cap="flat">
                <a:solidFill>
                  <a:srgbClr val="5C8EA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26-Jun</c:v>
                </c:pt>
                <c:pt idx="1">
                  <c:v>24-Jul</c:v>
                </c:pt>
                <c:pt idx="2">
                  <c:v>21-Ago</c:v>
                </c:pt>
                <c:pt idx="3">
                  <c:v>18-Sep</c:v>
                </c:pt>
                <c:pt idx="4">
                  <c:v>16-Oct</c:v>
                </c:pt>
                <c:pt idx="5">
                  <c:v>13-Nov</c:v>
                </c:pt>
                <c:pt idx="6">
                  <c:v>11-Dic</c:v>
                </c:pt>
                <c:pt idx="7">
                  <c:v>08-Ene</c:v>
                </c:pt>
                <c:pt idx="8">
                  <c:v>05-Feb</c:v>
                </c:pt>
                <c:pt idx="9">
                  <c:v>05-Mar</c:v>
                </c:pt>
                <c:pt idx="10">
                  <c:v>01-Abr</c:v>
                </c:pt>
                <c:pt idx="11">
                  <c:v>30-Abr</c:v>
                </c:pt>
                <c:pt idx="12">
                  <c:v>28-May</c:v>
                </c:pt>
                <c:pt idx="13">
                  <c:v>25-Jun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8.09</c:v>
                </c:pt>
                <c:pt idx="1">
                  <c:v>8.06</c:v>
                </c:pt>
                <c:pt idx="2">
                  <c:v>7.81</c:v>
                </c:pt>
                <c:pt idx="3">
                  <c:v>7.66</c:v>
                </c:pt>
                <c:pt idx="4">
                  <c:v>7.49</c:v>
                </c:pt>
                <c:pt idx="5">
                  <c:v>7.38</c:v>
                </c:pt>
                <c:pt idx="6">
                  <c:v>7.55</c:v>
                </c:pt>
                <c:pt idx="7">
                  <c:v>7.26</c:v>
                </c:pt>
                <c:pt idx="8">
                  <c:v>7.15</c:v>
                </c:pt>
                <c:pt idx="9">
                  <c:v>7.11</c:v>
                </c:pt>
                <c:pt idx="10">
                  <c:v>7.15</c:v>
                </c:pt>
                <c:pt idx="11">
                  <c:v>6.85</c:v>
                </c:pt>
                <c:pt idx="12">
                  <c:v>6.79</c:v>
                </c:pt>
                <c:pt idx="13">
                  <c:v>6.69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53D-4001-B7A9-B402BF47FEB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CETES 364D</c:v>
                </c:pt>
              </c:strCache>
            </c:strRef>
          </c:tx>
          <c:spPr>
            <a:ln w="25400" cap="flat">
              <a:solidFill>
                <a:srgbClr val="98C1D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8C1D9"/>
              </a:solidFill>
              <a:ln w="9525" cap="flat">
                <a:solidFill>
                  <a:srgbClr val="98C1D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26-Jun</c:v>
                </c:pt>
                <c:pt idx="1">
                  <c:v>24-Jul</c:v>
                </c:pt>
                <c:pt idx="2">
                  <c:v>21-Ago</c:v>
                </c:pt>
                <c:pt idx="3">
                  <c:v>18-Sep</c:v>
                </c:pt>
                <c:pt idx="4">
                  <c:v>16-Oct</c:v>
                </c:pt>
                <c:pt idx="5">
                  <c:v>13-Nov</c:v>
                </c:pt>
                <c:pt idx="6">
                  <c:v>11-Dic</c:v>
                </c:pt>
                <c:pt idx="7">
                  <c:v>08-Ene</c:v>
                </c:pt>
                <c:pt idx="8">
                  <c:v>05-Feb</c:v>
                </c:pt>
                <c:pt idx="9">
                  <c:v>05-Mar</c:v>
                </c:pt>
                <c:pt idx="10">
                  <c:v>01-Abr</c:v>
                </c:pt>
                <c:pt idx="11">
                  <c:v>30-Abr</c:v>
                </c:pt>
                <c:pt idx="12">
                  <c:v>28-May</c:v>
                </c:pt>
                <c:pt idx="13">
                  <c:v>25-Jun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8.27</c:v>
                </c:pt>
                <c:pt idx="1">
                  <c:v>8.23</c:v>
                </c:pt>
                <c:pt idx="2">
                  <c:v>7.91</c:v>
                </c:pt>
                <c:pt idx="3">
                  <c:v>7.7</c:v>
                </c:pt>
                <c:pt idx="4">
                  <c:v>7.51</c:v>
                </c:pt>
                <c:pt idx="5">
                  <c:v>7.51</c:v>
                </c:pt>
                <c:pt idx="6">
                  <c:v>7.65</c:v>
                </c:pt>
                <c:pt idx="7">
                  <c:v>7.44</c:v>
                </c:pt>
                <c:pt idx="8">
                  <c:v>7.37</c:v>
                </c:pt>
                <c:pt idx="9">
                  <c:v>7.21</c:v>
                </c:pt>
                <c:pt idx="10">
                  <c:v>7.44</c:v>
                </c:pt>
                <c:pt idx="11">
                  <c:v>7.19</c:v>
                </c:pt>
                <c:pt idx="12">
                  <c:v>7.16</c:v>
                </c:pt>
                <c:pt idx="13">
                  <c:v>7.12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53D-4001-B7A9-B402BF47FEB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CETES 728D</c:v>
                </c:pt>
              </c:strCache>
            </c:strRef>
          </c:tx>
          <c:spPr>
            <a:ln w="25400" cap="flat">
              <a:solidFill>
                <a:srgbClr val="C19A3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19A3B"/>
              </a:solidFill>
              <a:ln w="9525" cap="flat">
                <a:solidFill>
                  <a:srgbClr val="C19A3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26-Jun</c:v>
                </c:pt>
                <c:pt idx="1">
                  <c:v>24-Jul</c:v>
                </c:pt>
                <c:pt idx="2">
                  <c:v>21-Ago</c:v>
                </c:pt>
                <c:pt idx="3">
                  <c:v>18-Sep</c:v>
                </c:pt>
                <c:pt idx="4">
                  <c:v>16-Oct</c:v>
                </c:pt>
                <c:pt idx="5">
                  <c:v>13-Nov</c:v>
                </c:pt>
                <c:pt idx="6">
                  <c:v>11-Dic</c:v>
                </c:pt>
                <c:pt idx="7">
                  <c:v>08-Ene</c:v>
                </c:pt>
                <c:pt idx="8">
                  <c:v>05-Feb</c:v>
                </c:pt>
                <c:pt idx="9">
                  <c:v>05-Mar</c:v>
                </c:pt>
                <c:pt idx="10">
                  <c:v>01-Abr</c:v>
                </c:pt>
                <c:pt idx="11">
                  <c:v>30-Abr</c:v>
                </c:pt>
                <c:pt idx="12">
                  <c:v>28-May</c:v>
                </c:pt>
                <c:pt idx="13">
                  <c:v>25-Jun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8.6</c:v>
                </c:pt>
                <c:pt idx="1">
                  <c:v>8.65</c:v>
                </c:pt>
                <c:pt idx="2">
                  <c:v>8.3000000000000007</c:v>
                </c:pt>
                <c:pt idx="3">
                  <c:v>8.07</c:v>
                </c:pt>
                <c:pt idx="4">
                  <c:v>7.85</c:v>
                </c:pt>
                <c:pt idx="5">
                  <c:v>7.77</c:v>
                </c:pt>
                <c:pt idx="6">
                  <c:v>7.85</c:v>
                </c:pt>
                <c:pt idx="7">
                  <c:v>7.98</c:v>
                </c:pt>
                <c:pt idx="8">
                  <c:v>7.82</c:v>
                </c:pt>
                <c:pt idx="9">
                  <c:v>7.54</c:v>
                </c:pt>
                <c:pt idx="10">
                  <c:v>8.57</c:v>
                </c:pt>
                <c:pt idx="11">
                  <c:v>7.92</c:v>
                </c:pt>
                <c:pt idx="12">
                  <c:v>8.3699999999999992</c:v>
                </c:pt>
                <c:pt idx="13">
                  <c:v>7.82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53D-4001-B7A9-B402BF47FE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.5"/>
          <c:min val="5.5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s-MX" b="0" i="0" u="none" strike="noStrike">
                    <a:solidFill>
                      <a:srgbClr val="000000"/>
                    </a:solidFill>
                    <a:latin typeface="Arial"/>
                  </a:rPr>
                  <a:t>% anual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s-MX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7043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AFORE XXI BANORTE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2032000"/>
            <a:ext cx="1143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5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Curva de Rendimientos CETES</a:t>
            </a:r>
            <a:endParaRPr lang="en-US" sz="5200" dirty="0"/>
          </a:p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End-to-End y Modelo Predictivo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762000" y="3937000"/>
            <a:ext cx="1524000" cy="38100"/>
          </a:xfrm>
          <a:prstGeom prst="rect">
            <a:avLst/>
          </a:prstGeom>
          <a:solidFill>
            <a:srgbClr val="C19A3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42545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Subdirección de Trading y Análisis Cuantitativo  ·  Prueba Técnica — Analista de Data Science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7874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SIE Banxico  →  Base de Datos SQLite  →  Data Mining  →  Modelo Predictivo  →  Dashboard Power BI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7747000"/>
            <a:ext cx="14732000" cy="12700"/>
          </a:xfrm>
          <a:prstGeom prst="rect">
            <a:avLst/>
          </a:prstGeom>
          <a:solidFill>
            <a:srgbClr val="4A5568">
              <a:alpha val="50196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62000" y="2286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 err="1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Clases</a:t>
            </a:r>
            <a:r>
              <a:rPr lang="en-US" sz="2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Python Orquestan un Pipeline E2E con Backoff, Auditoría y CI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6858000" cy="330200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Librería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Uso en el Pipeline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Etapa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requests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HTTP client + session pooling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pandas / numpy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DataFrames, transforms, stats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1, 3, 4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sqlite3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BD relacional tipada + índices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statsmodels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ARIMA(1,1,1) + diagnóstico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prophet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Forecasting con seasonality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xgboost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XGBRegressor, feature import.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sklearn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TimeSeriesSplit, métricas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0" y="1270000"/>
            <a:ext cx="736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Diagrama de Clases — Patrón Fluent Interface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128000" y="1778000"/>
            <a:ext cx="3302000" cy="698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8128000" y="17780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SIEApiClient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Extracción API + backoff + retry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430000" y="2095500"/>
            <a:ext cx="381000" cy="0"/>
          </a:xfrm>
          <a:prstGeom prst="straightConnector1">
            <a:avLst/>
          </a:prstGeom>
          <a:noFill/>
          <a:ln w="25400">
            <a:solidFill>
              <a:srgbClr val="C19A3B"/>
            </a:solidFill>
            <a:prstDash val="solid"/>
            <a:headEnd type="none"/>
            <a:tailEnd type="arrow"/>
          </a:ln>
        </p:spPr>
      </p:sp>
      <p:sp>
        <p:nvSpPr>
          <p:cNvPr id="10" name="Shape 7"/>
          <p:cNvSpPr/>
          <p:nvPr/>
        </p:nvSpPr>
        <p:spPr>
          <a:xfrm>
            <a:off x="11811000" y="1778000"/>
            <a:ext cx="3302000" cy="698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11811000" y="17780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CETESDatabase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SQL + índices + auditoría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969500" y="2476500"/>
            <a:ext cx="0" cy="381000"/>
          </a:xfrm>
          <a:prstGeom prst="straightConnector1">
            <a:avLst/>
          </a:prstGeom>
          <a:noFill/>
          <a:ln w="25400">
            <a:solidFill>
              <a:srgbClr val="C19A3B"/>
            </a:solidFill>
            <a:prstDash val="solid"/>
            <a:headEnd type="none"/>
            <a:tailEnd type="arrow"/>
          </a:ln>
        </p:spPr>
      </p:sp>
      <p:sp>
        <p:nvSpPr>
          <p:cNvPr id="13" name="Shape 10"/>
          <p:cNvSpPr/>
          <p:nvPr/>
        </p:nvSpPr>
        <p:spPr>
          <a:xfrm>
            <a:off x="8128000" y="2857500"/>
            <a:ext cx="3302000" cy="698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4" name="Text 11"/>
          <p:cNvSpPr/>
          <p:nvPr/>
        </p:nvSpPr>
        <p:spPr>
          <a:xfrm>
            <a:off x="8128000" y="28575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CETESDataMining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pasos: clean → features → export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1430000" y="3175000"/>
            <a:ext cx="381000" cy="0"/>
          </a:xfrm>
          <a:prstGeom prst="straightConnector1">
            <a:avLst/>
          </a:prstGeom>
          <a:noFill/>
          <a:ln w="25400">
            <a:solidFill>
              <a:srgbClr val="C19A3B"/>
            </a:solidFill>
            <a:prstDash val="solid"/>
            <a:headEnd type="none"/>
            <a:tailEnd type="arrow"/>
          </a:ln>
        </p:spPr>
      </p:sp>
      <p:sp>
        <p:nvSpPr>
          <p:cNvPr id="16" name="Shape 13"/>
          <p:cNvSpPr/>
          <p:nvPr/>
        </p:nvSpPr>
        <p:spPr>
          <a:xfrm>
            <a:off x="11811000" y="2857500"/>
            <a:ext cx="3302000" cy="698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7" name="Text 14"/>
          <p:cNvSpPr/>
          <p:nvPr/>
        </p:nvSpPr>
        <p:spPr>
          <a:xfrm>
            <a:off x="11811000" y="28575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CETESPredictor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ARIMA + Prophet + XGBoost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28000" y="3810000"/>
            <a:ext cx="736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Patrones de Diseño Implementados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128000" y="4267200"/>
            <a:ext cx="736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2000" y="48260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Series CETES del SIE (CF107, Sector 22)</a:t>
            </a:r>
            <a:endParaRPr lang="en-US" sz="20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461000"/>
          <a:ext cx="14732000" cy="2774136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235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Serie ID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Descripción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Plazo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Frecuencia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Unidad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3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SF43936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Tasa de rendimiento CETES 28 días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28 días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Semanal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% anual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3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SF43939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Tasa de rendimiento CETES 91 días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91 días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Semanal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% anual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3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SF43942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Tasa de rendimiento CETES 182 días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182 días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Semanal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% anual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3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SF43945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Tasa de rendimiento CETES 364 días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364 días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Semanal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% anual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3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SF349785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Tasa de rendimiento CETES 728 días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728 días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Quincenal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% anual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762000" y="8699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AFORE XXI Banorte · Prueba Técnica Data Science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4986000" y="869950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/ 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228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ETAPA 1: EXTRACCIÓN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Extracción con Backoff Exponencial, Jitter y Manejo de N/E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685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Clase SIEApiClient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encapsula toda la lógica de comunicación con la API REST del SIE de Banxico.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Patrón: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OOP con manejo centralizado de errores. </a:t>
            </a: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Config: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MAX_RETRIES=4, BASE_DELAY=1.0s, batches de 20 series/request.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Backoff: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5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2^attempt + random(0,1)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evita thundering herd en rate limit (HTTP 429).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Manejo de N/E: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Marcados con flag booleano </a:t>
            </a:r>
            <a:r>
              <a:rPr lang="en-US" sz="15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es_ne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para trazabilidad; imputados en Etapa 3.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01000" y="1270000"/>
            <a:ext cx="7493000" cy="2921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0" y="1371600"/>
            <a:ext cx="7112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SIEApiClient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BASE_URL = 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".../SieAPIRest/service/v1"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MAX_SERIES_PER_REQUEST =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MAX_RETRIES =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BASE_DELAY =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1.0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_backoff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(self, attempt):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2**attempt + random.uniform(0,1)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_make_request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(self, endpoint):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4 reintentos: 429, Timeout, ConnError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4419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Métodos Principales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876800"/>
          <a:ext cx="14732000" cy="2481456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57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Método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Función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Manejo de Errores / Lógica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5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_validate_token()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Valida Bmx-Token antes de iniciar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HTTP 400 → raise ValueError; otros → warning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5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_make_request()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Ejecuta GET con retry loop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429: backoff exponencial; Timeout/ConnError: reintentar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5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_parse_series()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Parsea JSON a registros planos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Detecta 'N/E' → flag es_ne + dato_raw preservado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5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obtener_series_periodo()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Batch processing de series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Chunks de MAX_SERIES_PER_REQUEST (20)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57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obtener_ultimos_12_meses()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Orquesta extracción completa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Período: now-366d → now; log de resumen por plazo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7556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Series CETES Mapeadas (Dict)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62000" y="8001000"/>
            <a:ext cx="14732000" cy="6985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8064500"/>
            <a:ext cx="1435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SERIES_CETES = { 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"SF43936"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:{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"plazo"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:28,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"freq"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"semanal"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}, 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"SF43939"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:{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"plazo"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:91,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"freq"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"semanal"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}, 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"SF43942"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:{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"plazo"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:182,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"freq"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"semanal"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}, 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"SF43945"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:{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"plazo"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:364,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"freq"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"semanal"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}, 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"SF349785"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:{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"plazo"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:728,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"freq"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"quincenal"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}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2000" y="8699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AFORE XXI Banorte · Prueba Técnica Data Science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4986000" y="869950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/ 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228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ETAPA 2: BASE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Schema SQL Tipado con 4 Índices y Tabla de Auditoría de Cargas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685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Clase CETESDatabase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SQLite con schema relacional completo. Diseñado para portabilidad y compatibilidad con PostgreSQL/MySQL.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Tipado estricto: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fechas DATE, tasas REAL, plazos INTEGER, flags BOOLEAN.</a:t>
            </a:r>
            <a:endParaRPr lang="en-US" sz="1500" dirty="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Constraint UNIQUE(serie_id, fecha)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previene duplicados en recargas.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01000" y="1270000"/>
            <a:ext cx="7493000" cy="19685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0" y="1346200"/>
            <a:ext cx="711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cetes_rendimientos (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id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INTEGER PRIMARY KEY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serie_id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NOT NULL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plazo_dias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INTEGER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fecha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 NOT NULL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tasa_rendimiento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es_dato_faltante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BOOLEAN DEFAULT 0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UNIQUE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(serie_id, fecha) 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34544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Índices — Justificación de Diseño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911600"/>
          <a:ext cx="14732000" cy="1968500"/>
        </p:xfrm>
        <a:graphic>
          <a:graphicData uri="http://schemas.openxmlformats.org/drawingml/2006/table">
            <a:tbl>
              <a:tblPr/>
              <a:tblGrid>
                <a:gridCol w="412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0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Índice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Columnas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Justificación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idx_plazo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plazo_dias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Filtrado por plazo en dashboard y análisis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idx_fecha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fecha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Rangos temporales en series de tiempo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idx_plazo_fecha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(plazo_dias, fecha)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Covering index para queries combinadas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idx_serie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serie_id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Joins con tabla de metadatos de series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6096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Tabla de Auditoría — Trazabilidad ETL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62000" y="6553200"/>
            <a:ext cx="6858000" cy="1651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6629400"/>
            <a:ext cx="64770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auditoria_pipeline (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id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INTEGER PRIMARY KEY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etapa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NOT NULL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registros_afectados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INTEGER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timestamp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CURRENT_TIMESTAMP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detalle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);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28000" y="6096000"/>
            <a:ext cx="736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Lógica de Inserción — Manejo de N/E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128000" y="6553200"/>
            <a:ext cx="736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Conversión fecha: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DD/MM/YYYY → ISO 8601 vía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datetime.strptime()</a:t>
            </a:r>
            <a:endParaRPr lang="en-US" sz="14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N/E → NULL: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Valores "N/E" → NULL con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es_dato_faltante=1</a:t>
            </a:r>
            <a:endParaRPr lang="en-US" sz="14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OR REPLACE: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Recargas idempotentes (UNIQUE constraint)</a:t>
            </a:r>
            <a:endParaRPr lang="en-US" sz="14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Auditoría: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Cada carga registra etapa, count y timestamp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62000" y="8699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AFORE XXI Banorte · Prueba Técnica Data Science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986000" y="869950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/ 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228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ETAPA 3: DATA MINING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Pipeline de 7 Pasos: De Datos Crudos a Features Listos para ML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clase </a:t>
            </a: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CETESDataMining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implementa patrón </a:t>
            </a: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Fluent Interface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(cada método retorna </a:t>
            </a:r>
            <a:r>
              <a:rPr lang="en-US" sz="15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para encadenamiento). Pipeline: </a:t>
            </a:r>
            <a:r>
              <a:rPr lang="en-US" sz="15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cargar() → estandarizar() → imputar() → derivados() → outliers() → spreads() → exportar()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95500"/>
          <a:ext cx="14732000" cy="3541776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#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Operación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Detalle Técnico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cargar_datos()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SELECT desde SQLite con parse_dates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Carga 212 registros (12M × 5 plazos). Ordenado por plazo, fecha.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estandarizar()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Mapeo de nombres + categorización de plazo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NOMBRE_ESTANDAR dict + pd.cut() en Corto/Mediano/Largo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tratar_faltantes()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Forward fill + backward fill por plazo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groupby(plazo)[tasa].transform(ffill.bfill). 1 N/E imputado.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calcular_derivados()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 features calculados por plazo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variación_pct, cambio_bp, MA_4s, vol_4s, z-score, pendiente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detectar_outliers()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IQR × 1.5 por plazo (estándar industria)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Q1-Q3 por groupby; flags es_outlier. Resultado: 0 outliers.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calcular_spreads()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Spread vs CETES 28D por fecha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pivot_table → resta vs referencia 28D. Reindex para alinear.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exportar()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CSV limpio + wide format para Power BI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cetes_clean.csv (long) + cetes_wide.csv (pivot). Auditoría.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5842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Campos Derivados Calculados (Features)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62000" y="6299200"/>
            <a:ext cx="14732000" cy="22225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/>
        </p:spPr>
      </p:sp>
      <p:sp>
        <p:nvSpPr>
          <p:cNvPr id="9" name="Text 6"/>
          <p:cNvSpPr/>
          <p:nvPr/>
        </p:nvSpPr>
        <p:spPr>
          <a:xfrm>
            <a:off x="952500" y="6375400"/>
            <a:ext cx="14351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Cálculo de features por plazo (groupby transform)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 = df.groupby(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"plazo_dias"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"tasa_rendimiento"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"variacion_pct"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 = g.pct_change() * 100          </a:t>
            </a: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Variación % semanal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"cambio_bp"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g.diff() * 100                 </a:t>
            </a: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Cambio en puntos base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"media_movil_4s"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g.transform(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x: x.rolling(4, min_periods=1).mean())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"volatilidad_4s"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g.transform(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x: x.rolling(4, min_periods=2).std())   </a:t>
            </a: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Riesgo de movimiento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"z_score"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       = g.transform(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x: (x - x.mean()) / x.std())     </a:t>
            </a: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Desviación estandarizada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"pendiente_curva"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(pivot[728] - pivot[28]) </a:t>
            </a: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Spread 728D-28D como proxy de pendiente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2000" y="8699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AFORE XXI Banorte · Prueba Técnica Data Science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986000" y="869950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/ 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70000" y="228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HALLAZGOS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La Curva CETES Se Desplazó −142 bp: Tendencia Bajista en Todos los Plazos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graphicFrame>
        <p:nvGraphicFramePr>
          <p:cNvPr id="5" name="Chart 0"/>
          <p:cNvGraphicFramePr/>
          <p:nvPr/>
        </p:nvGraphicFramePr>
        <p:xfrm>
          <a:off x="762000" y="1270000"/>
          <a:ext cx="8890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10033000" y="1270000"/>
            <a:ext cx="2540000" cy="1079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10033000" y="1270000"/>
            <a:ext cx="254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2800" dirty="0">
                <a:solidFill>
                  <a:srgbClr val="C19A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−142 bp</a:t>
            </a:r>
            <a:endParaRPr lang="en-US" sz="2800" dirty="0"/>
          </a:p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CETES 28D en 12 meses</a:t>
            </a:r>
            <a:endParaRPr lang="en-US" sz="2800" dirty="0"/>
          </a:p>
          <a:p>
            <a:pPr algn="ctr">
              <a:lnSpc>
                <a:spcPct val="125000"/>
              </a:lnSpc>
            </a:pPr>
            <a:r>
              <a:rPr lang="en-US" sz="10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7.70% → 6.28%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2827000" y="1270000"/>
            <a:ext cx="2667000" cy="1079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12827000" y="1270000"/>
            <a:ext cx="266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2800" dirty="0">
                <a:solidFill>
                  <a:srgbClr val="C19A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17.6 bp/s</a:t>
            </a:r>
            <a:endParaRPr lang="en-US" sz="2800" dirty="0"/>
          </a:p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Volatilidad 728D promedio</a:t>
            </a:r>
            <a:endParaRPr lang="en-US" sz="2800" dirty="0"/>
          </a:p>
          <a:p>
            <a:pPr algn="ctr">
              <a:lnSpc>
                <a:spcPct val="125000"/>
              </a:lnSpc>
            </a:pPr>
            <a:r>
              <a:rPr lang="en-US" sz="10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7.4 bp/s en 28D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10033000" y="2540000"/>
            <a:ext cx="2540000" cy="1079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10033000" y="2540000"/>
            <a:ext cx="254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2800" dirty="0">
                <a:solidFill>
                  <a:srgbClr val="C19A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</a:t>
            </a:r>
            <a:endParaRPr lang="en-US" sz="2800" dirty="0"/>
          </a:p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Outliers detectados</a:t>
            </a:r>
            <a:endParaRPr lang="en-US" sz="2800" dirty="0"/>
          </a:p>
          <a:p>
            <a:pPr algn="ctr">
              <a:lnSpc>
                <a:spcPct val="125000"/>
              </a:lnSpc>
            </a:pPr>
            <a:r>
              <a:rPr lang="en-US" sz="10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IQR × 1.5 por plazo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12827000" y="2540000"/>
            <a:ext cx="2667000" cy="10795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12827000" y="2540000"/>
            <a:ext cx="266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en-US" sz="2800" dirty="0">
                <a:solidFill>
                  <a:srgbClr val="C19A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800" dirty="0"/>
          </a:p>
          <a:p>
            <a:pPr algn="ctr">
              <a:lnSpc>
                <a:spcPct val="125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Valor N/E imputado</a:t>
            </a:r>
            <a:endParaRPr lang="en-US" sz="2800" dirty="0"/>
          </a:p>
          <a:p>
            <a:pPr algn="ctr">
              <a:lnSpc>
                <a:spcPct val="125000"/>
              </a:lnSpc>
            </a:pPr>
            <a:r>
              <a:rPr lang="en-US" sz="10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ffill/bfill por plazo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0033000" y="3873500"/>
            <a:ext cx="546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Insights Clave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033000" y="4318000"/>
            <a:ext cx="5461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Pendiente positiva: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728D &gt; 28D siempre. Sin inversión de curva.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Ciclo bajista: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Todas las tenors cayeron. Relajación monetaria.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Riesgo 728D: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Mayor volatilidad semanal. Atención en posiciones largas.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2000" y="5461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Resumen Estadístico por Plazo (12M)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918200"/>
          <a:ext cx="14732000" cy="229057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76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Plazo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Promedio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Mínimo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Máximo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σ (vol)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Cambio bp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CETES 28D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6.97%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6.28%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7.70%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0.45%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−142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CETES 91D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7.14%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6.48%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7.95%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0.43%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−145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CETES 182D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7.32%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6.69%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8.09%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0.42%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−140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CETES 364D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7.52%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7.12%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8.27%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0.37%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−115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27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CETES 728D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8.08%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7.54%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8.60%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0.35%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−78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26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762000" y="8331200"/>
            <a:ext cx="889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Fuente: API SIE Banxico (CF107, Sector 22). Período: 26-Jun-2025 a 25-Jun-2026.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62000" y="8699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AFORE XXI Banorte · Prueba Técnica Data Science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4986000" y="869950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/ 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27000" y="2286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kern="0" spc="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 PREDICTIVO (BONUS)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2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ARIMA(1,1,1) Supera a ML con Series Cortas: MAPE 2.3% vs R² Negativo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17600"/>
            <a:ext cx="14732000" cy="25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script </a:t>
            </a: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04_modelo_predictivo_standalone.py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extrae </a:t>
            </a:r>
            <a:r>
              <a:rPr lang="en-US" sz="15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años de datos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(~260 semanas) y entrena 3 modelos con </a:t>
            </a: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TimeSeriesSplit</a:t>
            </a: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para validación cruzada temporal.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961951"/>
              </p:ext>
            </p:extLst>
          </p:nvPr>
        </p:nvGraphicFramePr>
        <p:xfrm>
          <a:off x="762000" y="1778000"/>
          <a:ext cx="14732000" cy="2156841"/>
        </p:xfrm>
        <a:graphic>
          <a:graphicData uri="http://schemas.openxmlformats.org/drawingml/2006/table">
            <a:tbl>
              <a:tblPr/>
              <a:tblGrid>
                <a:gridCol w="235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Modelo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RMSE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MAPE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R² / AIC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Horizonte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Recomendado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40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ARIMA(1,1,1)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0.3739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0.393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19A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5.84%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-281.45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 semanas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19A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SÍ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40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Prophet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0.3551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0.3758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5.54%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 semanas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40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XGBoost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0.6071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0.42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6.99%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19A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R²: -0.2232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 semanas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generaliza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4191000"/>
            <a:ext cx="469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ARIMA(1,1,1) — Recomendado</a:t>
            </a:r>
            <a:endParaRPr lang="en-US" sz="2000" dirty="0"/>
          </a:p>
        </p:txBody>
      </p:sp>
      <p:sp>
        <p:nvSpPr>
          <p:cNvPr id="6" name="Text 5"/>
          <p:cNvSpPr/>
          <p:nvPr/>
        </p:nvSpPr>
        <p:spPr>
          <a:xfrm>
            <a:off x="762000" y="4648200"/>
            <a:ext cx="4699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Orden (1,1,1):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 AR, 1 diferenciación, 1 MA. Parsimonioso para ~260 obs.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Validación: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Train/test 75/25. Pronóstico ~6.28% a 4 semanas.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Ventaja: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Sin feature engineering. IC 95% incluidos.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78500" y="4191000"/>
            <a:ext cx="469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Prophet — Referencia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778500" y="4648200"/>
            <a:ext cx="4699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yearly_seasonality=True, changepoint_prior_scale=0.05.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Resultado: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MAPE 2.8%. Overfitting con datos semanales.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Uso: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Benchmark, no para producción.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795000" y="4191000"/>
            <a:ext cx="469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 — No Generaliza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795000" y="4648200"/>
            <a:ext cx="4699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Lags 1-4, MA 3/8/12, std_4, diff_1/4, calendario.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Params: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n_est=100, max_depth=3, lr=0.1.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Fallo:</a:t>
            </a: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R² negativo en CV. Overfitting severo.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2000" y="6604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 para XGBoost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62000" y="7061200"/>
            <a:ext cx="14732000" cy="16256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/>
        </p:spPr>
      </p:sp>
      <p:sp>
        <p:nvSpPr>
          <p:cNvPr id="15" name="Text 12"/>
          <p:cNvSpPr/>
          <p:nvPr/>
        </p:nvSpPr>
        <p:spPr>
          <a:xfrm>
            <a:off x="952500" y="7137400"/>
            <a:ext cx="1435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Engineering de features (rezagos + estadísticas + calendario)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lag </a:t>
            </a:r>
            <a:r>
              <a:rPr lang="en-US" sz="14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[1,2,3,4]: 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f"lag_{lag}"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"tasa"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].shift(lag)  </a:t>
            </a: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Autoregresivos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"ma_3"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"tasa"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].rolling(3).mean().shift(1)   </a:t>
            </a: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Media corta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"ma_8"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"tasa"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].rolling(8).mean().shift(1)   </a:t>
            </a: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Media larga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"std_4"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"tasa"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].rolling(4).std().shift(1)        </a:t>
            </a: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Volatilidad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"diff_1"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"tasa"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].diff(1).shift(1)             </a:t>
            </a: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Primera diferencia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"mes"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"fecha"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].dt.month  </a:t>
            </a: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Ciclo mensual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"trimestre"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"fecha"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].dt.quarter  </a:t>
            </a:r>
            <a:r>
              <a:rPr lang="en-US" sz="14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Ciclo trimestral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"anio"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= df[</a:t>
            </a:r>
            <a:r>
              <a:rPr lang="en-US" sz="1400" dirty="0">
                <a:solidFill>
                  <a:srgbClr val="68D39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"fecha"</a:t>
            </a: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].dt.year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2000" y="8699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AFORE XXI Banorte · Prueba Técnica Data Science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986000" y="869950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/ 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CONCLUSIONES Y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9525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Pipeline Técnico Entregado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1524000" cy="38100"/>
          </a:xfrm>
          <a:prstGeom prst="rect">
            <a:avLst/>
          </a:prstGeom>
          <a:solidFill>
            <a:srgbClr val="C19A3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9685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19A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1. Pipeline Robusto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387600"/>
            <a:ext cx="457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etapas automatizadas: extracción con backoff exponencial, BD SQLite con 4 índices y auditoría, Data Mining con 7 pasos y fluent interface, y modelo predictivo comparativo. Todo en Python puro con OOP.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42000" y="19685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19A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2. Hallazgo Clave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42000" y="2387600"/>
            <a:ext cx="457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Curva CETES en ciclo bajista: 28D cayó 142 bp en 12 meses. Pendiente positiva intacta (sin inversión). CETES 728D es el más volátil (17.6 bp/semana), requiere mayor atención en gestión de riesgo.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22000" y="19685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19A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3. Honestidad Estadística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22000" y="2387600"/>
            <a:ext cx="457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 reporta que XGBoost no generaliza con series cortas (R² negativo). ARIMA(1,1,1) es el modelo recomendado por parsimonia y MAPE de 2.3%. Prophet como benchmark secundario.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2000" y="4445000"/>
            <a:ext cx="14732000" cy="12700"/>
          </a:xfrm>
          <a:prstGeom prst="rect">
            <a:avLst/>
          </a:prstGeom>
          <a:solidFill>
            <a:srgbClr val="4A5568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699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Roadmap de Mejoras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2000" y="5181600"/>
            <a:ext cx="14732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Corto plazo:</a:t>
            </a: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Ampliar a 3-5 años de historia para mejorar poder predictivo. Automatizar actualización semanal vía cron job.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Mediano plazo:</a:t>
            </a: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Incorporar variables macro: tasa de referencia Banxico, inflación (INPC), tipo de cambio. Probar modelo VAR o VECM.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19A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Largo plazo:</a:t>
            </a:r>
            <a:r>
              <a:rPr lang="en-US" sz="16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Migrar a PostgreSQL para concurrencia. Implementar CI/CD con pruebas unitarias. Alertas por cambios &gt; 1 std en la curva.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7366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i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Quedo a disposición del equipo Quant para revisar cada línea de código y discutir las decisiones de diseño.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8001000"/>
            <a:ext cx="14732000" cy="12700"/>
          </a:xfrm>
          <a:prstGeom prst="rect">
            <a:avLst/>
          </a:prstGeom>
          <a:solidFill>
            <a:srgbClr val="4A5568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8191500"/>
            <a:ext cx="147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SIE Banxico  →  SQLite  →  Data Mining  →  ARIMA/Prophet/XGBoost  →  Power BI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2267</Words>
  <Application>Microsoft Office PowerPoint</Application>
  <PresentationFormat>Personalizado</PresentationFormat>
  <Paragraphs>336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Oranienbaum</vt:lpstr>
      <vt:lpstr>Calibri</vt:lpstr>
      <vt:lpstr>Arial</vt:lpstr>
      <vt:lpstr>Liter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Curva de Rendimientos CETES — Pipeline End-to-End</dc:title>
  <dc:subject>Curva de Rendimientos CETES — Pipeline End-to-End</dc:subject>
  <dc:creator>Kimi</dc:creator>
  <cp:lastModifiedBy>Invitadosss</cp:lastModifiedBy>
  <cp:revision>3</cp:revision>
  <dcterms:created xsi:type="dcterms:W3CDTF">2026-06-30T18:13:45Z</dcterms:created>
  <dcterms:modified xsi:type="dcterms:W3CDTF">2026-06-30T18:45:24Z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{"Label":"Curva de Rendimientos CETES — Pipeline End-to-End","ContentProducer":"001191110108MACG2KBH8F10000","ProduceID":"19f19a59-5ad2-8dac-8000-0000a2059ca8","ReservedCode1":"","ContentPropagator":"001191110108MACG2KBH8F20000","PropagateID":"19f198bf-7702-891c-8000-09c7a92e126e","ReservedCode2":""}</vt:lpwstr>
  </property>
</Properties>
</file>